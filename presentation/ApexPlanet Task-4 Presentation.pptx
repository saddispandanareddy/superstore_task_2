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74089" y="5365526"/>
            <a:ext cx="3411485" cy="3892774"/>
          </a:xfrm>
          <a:custGeom>
            <a:avLst/>
            <a:gdLst/>
            <a:ahLst/>
            <a:cxnLst/>
            <a:rect r="r" b="b" t="t" l="l"/>
            <a:pathLst>
              <a:path h="3892774" w="3411485">
                <a:moveTo>
                  <a:pt x="0" y="0"/>
                </a:moveTo>
                <a:lnTo>
                  <a:pt x="3411485" y="0"/>
                </a:lnTo>
                <a:lnTo>
                  <a:pt x="3411485" y="3892774"/>
                </a:lnTo>
                <a:lnTo>
                  <a:pt x="0" y="3892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39395"/>
            <a:ext cx="15923574" cy="97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1"/>
              </a:lnSpc>
            </a:pPr>
            <a:r>
              <a:rPr lang="en-US" sz="7001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Superstore Sales &amp; Profit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43311" y="3172189"/>
            <a:ext cx="12694352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451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Data Storytelling &amp; Statistical Validation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5115" y="6838838"/>
            <a:ext cx="7471831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ApexPlanet Internship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name="AutoShape 6" id="6"/>
          <p:cNvSpPr/>
          <p:nvPr/>
        </p:nvSpPr>
        <p:spPr>
          <a:xfrm flipH="true" flipV="true">
            <a:off x="16952274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096262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72402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23950"/>
            <a:ext cx="14794011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75343"/>
            <a:ext cx="15250717" cy="33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Analyze overall business performance using sales data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Identify profitable and loss-making products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Understand relationship between sales and profit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Support 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data-driven decision-making using dashboards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40072" y="3186366"/>
            <a:ext cx="11519228" cy="5471634"/>
          </a:xfrm>
          <a:custGeom>
            <a:avLst/>
            <a:gdLst/>
            <a:ahLst/>
            <a:cxnLst/>
            <a:rect r="r" b="b" t="t" l="l"/>
            <a:pathLst>
              <a:path h="5471634" w="11519228">
                <a:moveTo>
                  <a:pt x="0" y="0"/>
                </a:moveTo>
                <a:lnTo>
                  <a:pt x="11519228" y="0"/>
                </a:lnTo>
                <a:lnTo>
                  <a:pt x="11519228" y="5471633"/>
                </a:lnTo>
                <a:lnTo>
                  <a:pt x="0" y="5471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8077" y="693327"/>
            <a:ext cx="14794011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24262"/>
            <a:ext cx="10131094" cy="9108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</a:p>
          <a:p>
            <a:pPr algn="just">
              <a:lnSpc>
                <a:spcPts val="4760"/>
              </a:lnSpc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Key Features: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Sales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Profit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Quantity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Region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Category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Sub-Category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Discount</a:t>
            </a:r>
          </a:p>
          <a:p>
            <a:pPr algn="just">
              <a:lnSpc>
                <a:spcPts val="4760"/>
              </a:lnSpc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Tools Used: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Python (Pandas)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Power BI</a:t>
            </a:r>
          </a:p>
          <a:p>
            <a:pPr algn="just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VS Code</a:t>
            </a:r>
          </a:p>
          <a:p>
            <a:pPr algn="just">
              <a:lnSpc>
                <a:spcPts val="4760"/>
              </a:lnSpc>
            </a:pP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77328"/>
            <a:ext cx="10705257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34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t: Sample Superstore Dataset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07879"/>
            <a:ext cx="15250717" cy="33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Total Sales: 2.30M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Total P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rofit: 286.24K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Total Quantity: 38K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Avg Sales per O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rder: 230.15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18717" y="6159409"/>
            <a:ext cx="14660701" cy="2565623"/>
          </a:xfrm>
          <a:custGeom>
            <a:avLst/>
            <a:gdLst/>
            <a:ahLst/>
            <a:cxnLst/>
            <a:rect r="r" b="b" t="t" l="l"/>
            <a:pathLst>
              <a:path h="2565623" w="14660701">
                <a:moveTo>
                  <a:pt x="0" y="0"/>
                </a:moveTo>
                <a:lnTo>
                  <a:pt x="14660700" y="0"/>
                </a:lnTo>
                <a:lnTo>
                  <a:pt x="14660700" y="2565623"/>
                </a:lnTo>
                <a:lnTo>
                  <a:pt x="0" y="2565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4794011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Business KPIs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1178" y="5547535"/>
            <a:ext cx="5085614" cy="4015793"/>
          </a:xfrm>
          <a:custGeom>
            <a:avLst/>
            <a:gdLst/>
            <a:ahLst/>
            <a:cxnLst/>
            <a:rect r="r" b="b" t="t" l="l"/>
            <a:pathLst>
              <a:path h="4015793" w="5085614">
                <a:moveTo>
                  <a:pt x="0" y="0"/>
                </a:moveTo>
                <a:lnTo>
                  <a:pt x="5085614" y="0"/>
                </a:lnTo>
                <a:lnTo>
                  <a:pt x="5085614" y="4015793"/>
                </a:lnTo>
                <a:lnTo>
                  <a:pt x="0" y="4015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8" r="0" b="-95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5547535"/>
            <a:ext cx="6367383" cy="4015793"/>
          </a:xfrm>
          <a:custGeom>
            <a:avLst/>
            <a:gdLst/>
            <a:ahLst/>
            <a:cxnLst/>
            <a:rect r="r" b="b" t="t" l="l"/>
            <a:pathLst>
              <a:path h="4015793" w="6367383">
                <a:moveTo>
                  <a:pt x="0" y="0"/>
                </a:moveTo>
                <a:lnTo>
                  <a:pt x="6367383" y="0"/>
                </a:lnTo>
                <a:lnTo>
                  <a:pt x="6367383" y="4015793"/>
                </a:lnTo>
                <a:lnTo>
                  <a:pt x="0" y="4015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6947124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Sales Performance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20797"/>
            <a:ext cx="15250717" cy="33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Observations: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Technology cat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egory generated highest sales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est region showed strong perform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ance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Sales vary significantly across categories and regions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0585" y="5489552"/>
            <a:ext cx="3981578" cy="3841619"/>
          </a:xfrm>
          <a:custGeom>
            <a:avLst/>
            <a:gdLst/>
            <a:ahLst/>
            <a:cxnLst/>
            <a:rect r="r" b="b" t="t" l="l"/>
            <a:pathLst>
              <a:path h="3841619" w="3981578">
                <a:moveTo>
                  <a:pt x="0" y="0"/>
                </a:moveTo>
                <a:lnTo>
                  <a:pt x="3981578" y="0"/>
                </a:lnTo>
                <a:lnTo>
                  <a:pt x="3981578" y="3841619"/>
                </a:lnTo>
                <a:lnTo>
                  <a:pt x="0" y="3841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2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98298" y="6103048"/>
            <a:ext cx="5000559" cy="2194982"/>
          </a:xfrm>
          <a:custGeom>
            <a:avLst/>
            <a:gdLst/>
            <a:ahLst/>
            <a:cxnLst/>
            <a:rect r="r" b="b" t="t" l="l"/>
            <a:pathLst>
              <a:path h="2194982" w="5000559">
                <a:moveTo>
                  <a:pt x="0" y="0"/>
                </a:moveTo>
                <a:lnTo>
                  <a:pt x="5000558" y="0"/>
                </a:lnTo>
                <a:lnTo>
                  <a:pt x="5000558" y="2194983"/>
                </a:lnTo>
                <a:lnTo>
                  <a:pt x="0" y="2194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910" t="0" r="0" b="-942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34990" y="6094789"/>
            <a:ext cx="5126909" cy="2203242"/>
          </a:xfrm>
          <a:custGeom>
            <a:avLst/>
            <a:gdLst/>
            <a:ahLst/>
            <a:cxnLst/>
            <a:rect r="r" b="b" t="t" l="l"/>
            <a:pathLst>
              <a:path h="2203242" w="5126909">
                <a:moveTo>
                  <a:pt x="0" y="0"/>
                </a:moveTo>
                <a:lnTo>
                  <a:pt x="5126910" y="0"/>
                </a:lnTo>
                <a:lnTo>
                  <a:pt x="5126910" y="2203242"/>
                </a:lnTo>
                <a:lnTo>
                  <a:pt x="0" y="220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417" t="-99999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17042818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Deep-Dive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96874"/>
            <a:ext cx="15250717" cy="33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Key Findings: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Some products generate high sales but low profit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Discounts re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duce profitability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Top and low-performing products were i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dentified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32830"/>
            <a:ext cx="15250717" cy="468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Observation: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Majority of transactions g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enerate profit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Some products still result in losses</a:t>
            </a:r>
          </a:p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Business Insight: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Excessive discounts negatively impact profitability.</a:t>
            </a:r>
          </a:p>
          <a:p>
            <a:pPr algn="just">
              <a:lnSpc>
                <a:spcPts val="5319"/>
              </a:lnSpc>
            </a:pP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14435" y="6122374"/>
            <a:ext cx="8357718" cy="3638310"/>
          </a:xfrm>
          <a:custGeom>
            <a:avLst/>
            <a:gdLst/>
            <a:ahLst/>
            <a:cxnLst/>
            <a:rect r="r" b="b" t="t" l="l"/>
            <a:pathLst>
              <a:path h="3638310" w="8357718">
                <a:moveTo>
                  <a:pt x="0" y="0"/>
                </a:moveTo>
                <a:lnTo>
                  <a:pt x="8357717" y="0"/>
                </a:lnTo>
                <a:lnTo>
                  <a:pt x="8357717" y="3638310"/>
                </a:lnTo>
                <a:lnTo>
                  <a:pt x="0" y="3638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6230600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Profit vs Loss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0409"/>
            <a:ext cx="14794011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Hypothesis Testing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72241" y="2429755"/>
            <a:ext cx="10944492" cy="843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Hypothesis: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Higher discounts re</a:t>
            </a: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duce profitability.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H₀ (Null Hypothesis):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Discounts do not affect profit.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H₁ (Alte</a:t>
            </a: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rn</a:t>
            </a: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ative Hypothesis):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Higher discounts negatively impact profit.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Observation: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Products with higher discounts often show lower or negative profit values.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Conclusion: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The analysis supports the hypothesis that excessive discounts reduce profitability.</a:t>
            </a:r>
          </a:p>
          <a:p>
            <a:pPr algn="just">
              <a:lnSpc>
                <a:spcPts val="4480"/>
              </a:lnSpc>
            </a:pPr>
          </a:p>
          <a:p>
            <a:pPr algn="just">
              <a:lnSpc>
                <a:spcPts val="4480"/>
              </a:lnSpc>
            </a:pPr>
          </a:p>
          <a:p>
            <a:pPr algn="just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116733" y="3301799"/>
            <a:ext cx="5036149" cy="4859120"/>
          </a:xfrm>
          <a:custGeom>
            <a:avLst/>
            <a:gdLst/>
            <a:ahLst/>
            <a:cxnLst/>
            <a:rect r="r" b="b" t="t" l="l"/>
            <a:pathLst>
              <a:path h="4859120" w="5036149">
                <a:moveTo>
                  <a:pt x="0" y="0"/>
                </a:moveTo>
                <a:lnTo>
                  <a:pt x="5036149" y="0"/>
                </a:lnTo>
                <a:lnTo>
                  <a:pt x="5036149" y="4859121"/>
                </a:lnTo>
                <a:lnTo>
                  <a:pt x="0" y="4859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2638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23950"/>
            <a:ext cx="1752128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Recommendations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75343"/>
            <a:ext cx="15250717" cy="401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Reduce unnecessary discounts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Focus o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n profitable products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Improv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 pricing strategies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Monitor low-performing products</a:t>
            </a:r>
          </a:p>
          <a:p>
            <a:pPr algn="just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Inc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ase focus on high-performing regions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06726"/>
            <a:ext cx="14794011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46768"/>
            <a:ext cx="16422968" cy="285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99"/>
              </a:lnSpc>
            </a:pP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This project demonstrates how data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analytics and visualization techniques can transform raw business data into meaningful insights and support be</a:t>
            </a:r>
            <a:r>
              <a:rPr lang="en-US" sz="379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tter decision-making.</a:t>
            </a:r>
          </a:p>
          <a:p>
            <a:pPr algn="just">
              <a:lnSpc>
                <a:spcPts val="56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9161" y="-353316"/>
            <a:ext cx="5954157" cy="11239916"/>
            <a:chOff x="0" y="0"/>
            <a:chExt cx="1568173" cy="29603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8173" cy="2960307"/>
            </a:xfrm>
            <a:custGeom>
              <a:avLst/>
              <a:gdLst/>
              <a:ahLst/>
              <a:cxnLst/>
              <a:rect r="r" b="b" t="t" l="l"/>
              <a:pathLst>
                <a:path h="2960307" w="1568173">
                  <a:moveTo>
                    <a:pt x="0" y="0"/>
                  </a:moveTo>
                  <a:lnTo>
                    <a:pt x="1568173" y="0"/>
                  </a:lnTo>
                  <a:lnTo>
                    <a:pt x="1568173" y="2960307"/>
                  </a:lnTo>
                  <a:lnTo>
                    <a:pt x="0" y="2960307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568173" cy="301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41973"/>
            <a:ext cx="10020426" cy="538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7"/>
              </a:lnSpc>
            </a:pPr>
            <a:r>
              <a:rPr lang="en-US" sz="19864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</a:t>
            </a:r>
            <a:r>
              <a:rPr lang="en-US" b="true" sz="19864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DAHJGG1jUXY</dc:identifier>
  <dcterms:modified xsi:type="dcterms:W3CDTF">2011-08-01T06:04:30Z</dcterms:modified>
  <cp:revision>1</cp:revision>
  <dc:title>ApexPlanet Task-4 Presentation</dc:title>
</cp:coreProperties>
</file>